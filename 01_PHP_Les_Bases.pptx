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" y="3474720"/>
            <a:ext cx="4114800" cy="4114800"/>
          </a:xfrm>
          <a:prstGeom prst="roundRect">
            <a:avLst>
              <a:gd name="adj" fmla="val 13333"/>
            </a:avLst>
          </a:prstGeom>
          <a:solidFill>
            <a:srgbClr val="0EA5E9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914400"/>
            <a:ext cx="3200400" cy="3200400"/>
          </a:xfrm>
          <a:prstGeom prst="roundRect">
            <a:avLst>
              <a:gd name="adj" fmla="val 14286"/>
            </a:avLst>
          </a:prstGeom>
          <a:solidFill>
            <a:srgbClr val="0EA5E9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PHP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Fondamentaux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297180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de stage — Tunisia Booking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4114800"/>
            <a:ext cx="1371600" cy="347472"/>
          </a:xfrm>
          <a:prstGeom prst="roundRect">
            <a:avLst>
              <a:gd name="adj" fmla="val 26316"/>
            </a:avLst>
          </a:prstGeom>
          <a:solidFill>
            <a:srgbClr val="0EA5E9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41148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PHP 8.x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73152" cy="73152"/>
          </a:xfrm>
          <a:prstGeom prst="oval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256032"/>
            <a:ext cx="7982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C'est quoi PHP 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920240" cy="3383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2344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🌐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94360" y="19202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Côté serveur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2487168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s'exécute sur le serveur, pas dans le navigateur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87752" y="1051560"/>
            <a:ext cx="1920240" cy="3383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87752" y="12344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📄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679192" y="19202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Génère du HTML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79192" y="2487168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produit les pages web envoyées au client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72584" y="1051560"/>
            <a:ext cx="1920240" cy="3383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72584" y="12344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🗄️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764024" y="19202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Parle aux BDD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64024" y="2487168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MySQL, PostgreSQL, SQLite...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57416" y="1051560"/>
            <a:ext cx="1920240" cy="3383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57416" y="12344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848856" y="19202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Laravel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Symfony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48856" y="2487168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 deux frameworks sont écrits en PHP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73152" cy="73152"/>
          </a:xfrm>
          <a:prstGeom prst="oval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256032"/>
            <a:ext cx="7982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 &amp; Types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914400"/>
            <a:ext cx="5029200" cy="3108960"/>
          </a:xfrm>
          <a:prstGeom prst="roundRect">
            <a:avLst>
              <a:gd name="adj" fmla="val 3529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67512" y="1051560"/>
            <a:ext cx="4700016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Variables — toujours avec $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$prenom   = "Arwa";    // string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$age      = 22;         // integer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$prix     = 149.99;     // float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$dispo    = true;       // boolean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$rien     = null;       // null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Afficher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"Bonjour " . $prenom;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"Bonjour $prenom";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806440" y="914400"/>
            <a:ext cx="28346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806440" y="950976"/>
            <a:ext cx="54864" cy="457200"/>
          </a:xfrm>
          <a:prstGeom prst="roundRect">
            <a:avLst>
              <a:gd name="adj" fmla="val 50000"/>
            </a:avLst>
          </a:prstGeom>
          <a:solidFill>
            <a:srgbClr val="7DD3FC"/>
          </a:solidFill>
          <a:ln/>
        </p:spPr>
      </p:sp>
      <p:sp>
        <p:nvSpPr>
          <p:cNvPr id="8" name="Text 6"/>
          <p:cNvSpPr/>
          <p:nvPr/>
        </p:nvSpPr>
        <p:spPr>
          <a:xfrm>
            <a:off x="5989320" y="91440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806440" y="1536192"/>
            <a:ext cx="28346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806440" y="1572768"/>
            <a:ext cx="54864" cy="457200"/>
          </a:xfrm>
          <a:prstGeom prst="roundRect">
            <a:avLst>
              <a:gd name="adj" fmla="val 50000"/>
            </a:avLst>
          </a:prstGeom>
          <a:solidFill>
            <a:srgbClr val="86EFAC"/>
          </a:solidFill>
          <a:ln/>
        </p:spPr>
      </p:sp>
      <p:sp>
        <p:nvSpPr>
          <p:cNvPr id="11" name="Text 9"/>
          <p:cNvSpPr/>
          <p:nvPr/>
        </p:nvSpPr>
        <p:spPr>
          <a:xfrm>
            <a:off x="5989320" y="1536192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806440" y="2157984"/>
            <a:ext cx="28346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806440" y="2194560"/>
            <a:ext cx="54864" cy="457200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/>
        </p:spPr>
      </p:sp>
      <p:sp>
        <p:nvSpPr>
          <p:cNvPr id="14" name="Text 12"/>
          <p:cNvSpPr/>
          <p:nvPr/>
        </p:nvSpPr>
        <p:spPr>
          <a:xfrm>
            <a:off x="5989320" y="2157984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806440" y="2779776"/>
            <a:ext cx="28346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06440" y="2816352"/>
            <a:ext cx="54864" cy="457200"/>
          </a:xfrm>
          <a:prstGeom prst="roundRect">
            <a:avLst>
              <a:gd name="adj" fmla="val 50000"/>
            </a:avLst>
          </a:prstGeom>
          <a:solidFill>
            <a:srgbClr val="F9A8D4"/>
          </a:solidFill>
          <a:ln/>
        </p:spPr>
      </p:sp>
      <p:sp>
        <p:nvSpPr>
          <p:cNvPr id="17" name="Text 15"/>
          <p:cNvSpPr/>
          <p:nvPr/>
        </p:nvSpPr>
        <p:spPr>
          <a:xfrm>
            <a:off x="5989320" y="2779776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806440" y="3401568"/>
            <a:ext cx="28346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806440" y="3438144"/>
            <a:ext cx="54864" cy="4572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/>
        </p:spPr>
      </p:sp>
      <p:sp>
        <p:nvSpPr>
          <p:cNvPr id="20" name="Text 18"/>
          <p:cNvSpPr/>
          <p:nvPr/>
        </p:nvSpPr>
        <p:spPr>
          <a:xfrm>
            <a:off x="5989320" y="3401568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73152" cy="73152"/>
          </a:xfrm>
          <a:prstGeom prst="oval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256032"/>
            <a:ext cx="7982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Tableaux (Arrays)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914400"/>
            <a:ext cx="5029200" cy="3566160"/>
          </a:xfrm>
          <a:prstGeom prst="roundRect">
            <a:avLst>
              <a:gd name="adj" fmla="val 3077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67512" y="1051560"/>
            <a:ext cx="470001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Tableau simple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$destinations = ["Djerba","Sousse","Tunis"];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$destinations[0];   // Djerba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Tableau associatif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$hotel = [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"nom"     =&gt; "Djerba Plaza",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"prix"    =&gt; 200,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"etoiles" =&gt; 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$hotel["nom"];  // Djerba Plaza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806440" y="914400"/>
            <a:ext cx="2834640" cy="356616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89320" y="10058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retenir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89320" y="1591056"/>
            <a:ext cx="109728" cy="109728"/>
          </a:xfrm>
          <a:prstGeom prst="oval">
            <a:avLst/>
          </a:prstGeom>
          <a:solidFill>
            <a:srgbClr val="0EA5E9"/>
          </a:solidFill>
          <a:ln/>
        </p:spPr>
      </p:sp>
      <p:sp>
        <p:nvSpPr>
          <p:cNvPr id="9" name="Text 7"/>
          <p:cNvSpPr/>
          <p:nvPr/>
        </p:nvSpPr>
        <p:spPr>
          <a:xfrm>
            <a:off x="6172200" y="14630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commence à 0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989320" y="2167128"/>
            <a:ext cx="109728" cy="109728"/>
          </a:xfrm>
          <a:prstGeom prst="oval">
            <a:avLst/>
          </a:prstGeom>
          <a:solidFill>
            <a:srgbClr val="0EA5E9"/>
          </a:solidFill>
          <a:ln/>
        </p:spPr>
      </p:sp>
      <p:sp>
        <p:nvSpPr>
          <p:cNvPr id="11" name="Text 9"/>
          <p:cNvSpPr/>
          <p:nvPr/>
        </p:nvSpPr>
        <p:spPr>
          <a:xfrm>
            <a:off x="6172200" y="203911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"clé" =&gt; valeur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89320" y="2743200"/>
            <a:ext cx="109728" cy="109728"/>
          </a:xfrm>
          <a:prstGeom prst="oval">
            <a:avLst/>
          </a:prstGeom>
          <a:solidFill>
            <a:srgbClr val="0EA5E9"/>
          </a:solidFill>
          <a:ln/>
        </p:spPr>
      </p:sp>
      <p:sp>
        <p:nvSpPr>
          <p:cNvPr id="13" name="Text 11"/>
          <p:cNvSpPr/>
          <p:nvPr/>
        </p:nvSpPr>
        <p:spPr>
          <a:xfrm>
            <a:off x="6172200" y="2615184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tableaux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89320" y="3319272"/>
            <a:ext cx="109728" cy="109728"/>
          </a:xfrm>
          <a:prstGeom prst="oval">
            <a:avLst/>
          </a:prstGeom>
          <a:solidFill>
            <a:srgbClr val="0EA5E9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3191256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count() pour la taille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989320" y="3895344"/>
            <a:ext cx="109728" cy="109728"/>
          </a:xfrm>
          <a:prstGeom prst="oval">
            <a:avLst/>
          </a:prstGeom>
          <a:solidFill>
            <a:srgbClr val="0EA5E9"/>
          </a:solidFill>
          <a:ln/>
        </p:spPr>
      </p:sp>
      <p:sp>
        <p:nvSpPr>
          <p:cNvPr id="17" name="Text 15"/>
          <p:cNvSpPr/>
          <p:nvPr/>
        </p:nvSpPr>
        <p:spPr>
          <a:xfrm>
            <a:off x="6172200" y="376732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[] pour ajouter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73152" cy="73152"/>
          </a:xfrm>
          <a:prstGeom prst="oval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256032"/>
            <a:ext cx="7982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Conditions &amp; Boucles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4023360" cy="3200400"/>
          </a:xfrm>
          <a:prstGeom prst="roundRect">
            <a:avLst>
              <a:gd name="adj" fmla="val 3429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67512" y="1097280"/>
            <a:ext cx="369417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($prix &gt; 200)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echo "Hôtel luxe";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elseif ($prix &gt; 100)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echo "Hôtel moyen";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echo "Économique";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Ternaire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 = ($dispo) ? "Dispo" : "Complet";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09160" y="960120"/>
            <a:ext cx="3977640" cy="3200400"/>
          </a:xfrm>
          <a:prstGeom prst="roundRect">
            <a:avLst>
              <a:gd name="adj" fmla="val 3429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73752" y="1097280"/>
            <a:ext cx="364845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foreach — la + utilisée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 ($hotels as $hotel)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echo $hotel["nom"];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for classique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($i=0; $i&lt;3; $i++)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echo "Hôtel ".$i;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73152" cy="73152"/>
          </a:xfrm>
          <a:prstGeom prst="oval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256032"/>
            <a:ext cx="7982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Fonctions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914400"/>
            <a:ext cx="5029200" cy="36576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67512" y="1051560"/>
            <a:ext cx="4700016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calculerTotal($prix, $nuits)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$prix * $nuits;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calculerTotal(150, 3);  // 450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Valeur par défaut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reduction($prix, $r = 10)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$prix - ($prix*$r/100);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reduction(150);   // 135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reduction(150,20);// 120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806440" y="914400"/>
            <a:ext cx="2834640" cy="365760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897880" y="10058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Fonctions utiles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897880" y="1463040"/>
            <a:ext cx="2606040" cy="384048"/>
          </a:xfrm>
          <a:prstGeom prst="roundRect">
            <a:avLst>
              <a:gd name="adj" fmla="val 19048"/>
            </a:avLst>
          </a:prstGeom>
          <a:solidFill>
            <a:srgbClr val="E0F2FE"/>
          </a:solidFill>
          <a:ln/>
        </p:spPr>
      </p:sp>
      <p:sp>
        <p:nvSpPr>
          <p:cNvPr id="9" name="Text 7"/>
          <p:cNvSpPr/>
          <p:nvPr/>
        </p:nvSpPr>
        <p:spPr>
          <a:xfrm>
            <a:off x="5897880" y="146304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A5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strlen()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97880" y="1965960"/>
            <a:ext cx="2606040" cy="384048"/>
          </a:xfrm>
          <a:prstGeom prst="roundRect">
            <a:avLst>
              <a:gd name="adj" fmla="val 19048"/>
            </a:avLst>
          </a:prstGeom>
          <a:solidFill>
            <a:srgbClr val="E0F2FE"/>
          </a:solidFill>
          <a:ln/>
        </p:spPr>
      </p:sp>
      <p:sp>
        <p:nvSpPr>
          <p:cNvPr id="11" name="Text 9"/>
          <p:cNvSpPr/>
          <p:nvPr/>
        </p:nvSpPr>
        <p:spPr>
          <a:xfrm>
            <a:off x="5897880" y="196596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A5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strtoupper()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97880" y="2468880"/>
            <a:ext cx="2606040" cy="384048"/>
          </a:xfrm>
          <a:prstGeom prst="roundRect">
            <a:avLst>
              <a:gd name="adj" fmla="val 19048"/>
            </a:avLst>
          </a:prstGeom>
          <a:solidFill>
            <a:srgbClr val="E0F2FE"/>
          </a:solidFill>
          <a:ln/>
        </p:spPr>
      </p:sp>
      <p:sp>
        <p:nvSpPr>
          <p:cNvPr id="13" name="Text 11"/>
          <p:cNvSpPr/>
          <p:nvPr/>
        </p:nvSpPr>
        <p:spPr>
          <a:xfrm>
            <a:off x="5897880" y="246888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A5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trim()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897880" y="2971800"/>
            <a:ext cx="2606040" cy="384048"/>
          </a:xfrm>
          <a:prstGeom prst="roundRect">
            <a:avLst>
              <a:gd name="adj" fmla="val 19048"/>
            </a:avLst>
          </a:prstGeom>
          <a:solidFill>
            <a:srgbClr val="E0F2FE"/>
          </a:solidFill>
          <a:ln/>
        </p:spPr>
      </p:sp>
      <p:sp>
        <p:nvSpPr>
          <p:cNvPr id="15" name="Text 13"/>
          <p:cNvSpPr/>
          <p:nvPr/>
        </p:nvSpPr>
        <p:spPr>
          <a:xfrm>
            <a:off x="5897880" y="297180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A5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round()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897880" y="3474720"/>
            <a:ext cx="2606040" cy="384048"/>
          </a:xfrm>
          <a:prstGeom prst="roundRect">
            <a:avLst>
              <a:gd name="adj" fmla="val 19048"/>
            </a:avLst>
          </a:prstGeom>
          <a:solidFill>
            <a:srgbClr val="E0F2FE"/>
          </a:solidFill>
          <a:ln/>
        </p:spPr>
      </p:sp>
      <p:sp>
        <p:nvSpPr>
          <p:cNvPr id="17" name="Text 15"/>
          <p:cNvSpPr/>
          <p:nvPr/>
        </p:nvSpPr>
        <p:spPr>
          <a:xfrm>
            <a:off x="5897880" y="347472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A5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count()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897880" y="3977640"/>
            <a:ext cx="2606040" cy="384048"/>
          </a:xfrm>
          <a:prstGeom prst="roundRect">
            <a:avLst>
              <a:gd name="adj" fmla="val 19048"/>
            </a:avLst>
          </a:prstGeom>
          <a:solidFill>
            <a:srgbClr val="E0F2FE"/>
          </a:solidFill>
          <a:ln/>
        </p:spPr>
      </p:sp>
      <p:sp>
        <p:nvSpPr>
          <p:cNvPr id="19" name="Text 17"/>
          <p:cNvSpPr/>
          <p:nvPr/>
        </p:nvSpPr>
        <p:spPr>
          <a:xfrm>
            <a:off x="5897880" y="397764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A5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implode()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73152" cy="73152"/>
          </a:xfrm>
          <a:prstGeom prst="oval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256032"/>
            <a:ext cx="7982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Classes &amp; Objets — Le plus important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914400"/>
            <a:ext cx="5029200" cy="3977640"/>
          </a:xfrm>
          <a:prstGeom prst="roundRect">
            <a:avLst>
              <a:gd name="adj" fmla="val 2759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67512" y="1051560"/>
            <a:ext cx="4700016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Hotel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$nom;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$prix;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function __construct($nom,$prix)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$this-&gt;nom  = $nom;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$this-&gt;prix = $prix;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function total($nuits)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$this-&gt;prix * $nuits;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$h = new Hotel("Djerba Plaza", 200);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$h-&gt;total(3);  // 600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806440" y="914400"/>
            <a:ext cx="283464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897880" y="9509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897880" y="12618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/ plan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806440" y="1709928"/>
            <a:ext cx="283464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897880" y="17465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Hotel()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97880" y="20574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 objet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06440" y="2505456"/>
            <a:ext cx="283464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897880" y="2542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$this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897880" y="285292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L'objet courant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806440" y="3300984"/>
            <a:ext cx="283464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897880" y="3337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__construct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97880" y="364845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Exécuté à la création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806440" y="4096512"/>
            <a:ext cx="283464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897880" y="4133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897880" y="444398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partout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73152" cy="73152"/>
          </a:xfrm>
          <a:prstGeom prst="oval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256032"/>
            <a:ext cx="7982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JSON — Le format d'échange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2423160" cy="82296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0584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(Backend)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29000" y="1005840"/>
            <a:ext cx="2423160" cy="822960"/>
          </a:xfrm>
          <a:prstGeom prst="roundRect">
            <a:avLst>
              <a:gd name="adj" fmla="val 13333"/>
            </a:avLst>
          </a:prstGeom>
          <a:solidFill>
            <a:srgbClr val="0EA5E9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29000" y="100584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55080" y="1005840"/>
            <a:ext cx="2423160" cy="82296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355080" y="100584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Symfony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(Frontend)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017520" y="11887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943600" y="11887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02920" y="2057400"/>
            <a:ext cx="8229600" cy="27432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67512" y="2194560"/>
            <a:ext cx="790041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PHP → JSON  (Laravel)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$hotel = ["nom" =&gt; "Djerba Plaza", "prix" =&gt; 200];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$json = json_encode($hotel);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{"nom":"Djerba Plaza","prix":200}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JSON → PHP  (Symfony)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$data = json_decode($json, true);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$data["nom"];   // Djerba Plaza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" y="3474720"/>
            <a:ext cx="4114800" cy="4114800"/>
          </a:xfrm>
          <a:prstGeom prst="roundRect">
            <a:avLst>
              <a:gd name="adj" fmla="val 13333"/>
            </a:avLst>
          </a:prstGeom>
          <a:solidFill>
            <a:srgbClr val="0EA5E9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Récapitulatif PHP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1828800" cy="1600200"/>
          </a:xfrm>
          <a:prstGeom prst="roundRect">
            <a:avLst>
              <a:gd name="adj" fmla="val 8000"/>
            </a:avLst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887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💲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1828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51760" y="1005840"/>
            <a:ext cx="1828800" cy="1600200"/>
          </a:xfrm>
          <a:prstGeom prst="roundRect">
            <a:avLst>
              <a:gd name="adj" fmla="val 8000"/>
            </a:avLst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51760" y="11887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651760" y="1828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Tableaux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00600" y="1005840"/>
            <a:ext cx="1828800" cy="1600200"/>
          </a:xfrm>
          <a:prstGeom prst="roundRect">
            <a:avLst>
              <a:gd name="adj" fmla="val 8000"/>
            </a:avLst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00600" y="11887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🔀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00600" y="1828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949440" y="1005840"/>
            <a:ext cx="1828800" cy="1600200"/>
          </a:xfrm>
          <a:prstGeom prst="roundRect">
            <a:avLst>
              <a:gd name="adj" fmla="val 8000"/>
            </a:avLst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49440" y="11887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🔁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949440" y="1828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Boucles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54480" y="2834640"/>
            <a:ext cx="1828800" cy="1600200"/>
          </a:xfrm>
          <a:prstGeom prst="roundRect">
            <a:avLst>
              <a:gd name="adj" fmla="val 8000"/>
            </a:avLst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554480" y="30175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🔧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554480" y="3657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703320" y="2834640"/>
            <a:ext cx="1828800" cy="1600200"/>
          </a:xfrm>
          <a:prstGeom prst="roundRect">
            <a:avLst>
              <a:gd name="adj" fmla="val 8000"/>
            </a:avLst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703320" y="30175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🏗️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703320" y="3657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852160" y="2834640"/>
            <a:ext cx="1828800" cy="1600200"/>
          </a:xfrm>
          <a:prstGeom prst="roundRect">
            <a:avLst>
              <a:gd name="adj" fmla="val 8000"/>
            </a:avLst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852160" y="30175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852160" y="3657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PHP — Les Bases</dc:title>
  <dc:subject>PptxGenJS Presentation</dc:subject>
  <dc:creator>PptxGenJS</dc:creator>
  <cp:lastModifiedBy>PptxGenJS</cp:lastModifiedBy>
  <cp:revision>1</cp:revision>
  <dcterms:created xsi:type="dcterms:W3CDTF">2026-06-16T10:35:20Z</dcterms:created>
  <dcterms:modified xsi:type="dcterms:W3CDTF">2026-06-16T10:35:20Z</dcterms:modified>
</cp:coreProperties>
</file>